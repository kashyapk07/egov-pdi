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gov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548640"/>
            <a:ext cx="2898031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14800" y="2011680"/>
            <a:ext cx="3931920" cy="45720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Population Denominator Intelligence</a:t>
            </a:r>
            <a:br/>
            <a:r>
              <a:t>&amp; Beneficiary Deduplication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CCFF"/>
                </a:solidFill>
                <a:latin typeface="Calibri"/>
              </a:defRPr>
            </a:pPr>
            <a:r>
              <a:t>DIGIT Health Campaign Management (HCM)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4389120"/>
            <a:ext cx="3931920" cy="45720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9BB"/>
                </a:solidFill>
                <a:latin typeface="Calibri"/>
              </a:defRPr>
            </a:pPr>
            <a:r>
              <a:t>PES University Capstone Project | 2024-25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788AA"/>
                </a:solidFill>
                <a:latin typeface="Calibri"/>
              </a:defRPr>
            </a:pPr>
            <a:r>
              <a:t>In collaboration with eGov Foundation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pic>
        <p:nvPicPr>
          <p:cNvPr id="4" name="Picture 3" descr="egov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173523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eGov Foundation | DIGIT HCM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  What is DIGIT HCM?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  The Problem Statement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  Understanding the HCM Data Model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  How a Real Campaign Works (Household → Individual → Beneficiary)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  Our Two Deliverables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  Project Approach &amp;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7.   Technical Prerequisites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8.   Synthetic Dataset Overview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9.   Repository &amp; Collaboration Setup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10. Timeline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DIGIT HCM?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Digital Infrastructure for Governance, Impact &amp; Transformation</a:t>
            </a:r>
          </a:p>
        </p:txBody>
      </p:sp>
      <p:pic>
        <p:nvPicPr>
          <p:cNvPr id="5" name="Picture 4" descr="egov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173523" cy="822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eGov Foundation | DIGIT 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DIGIT is an open-source platform built by eGov Foundation for governance at scale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Health Campaign Management (HCM) is a module designed for large-scale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 public health campaigns (Polio vaccination, bednet distribution, etc.)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Used in countries like Mozambique, Chad, Nigeria, and others across Africa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Field workers use a mobile app (Flutter) to go door-to-door,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 register households and individuals, and deliver health interventions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Works offline-first — field workers operate in areas with no internet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 and sync data when connectivity is available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 Statement</a:t>
            </a:r>
          </a:p>
        </p:txBody>
      </p:sp>
      <p:pic>
        <p:nvPicPr>
          <p:cNvPr id="4" name="Picture 3" descr="egov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173523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eGov Foundation | DIGIT HCM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029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029200" cy="320040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PROBLEM 1: Population Denominator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Campaigns plan for 100,000 people based on</a:t>
            </a:r>
            <a:br/>
            <a:r>
              <a:t>census data, but the real population may be</a:t>
            </a:r>
            <a:br/>
            <a:r>
              <a:t>60,000 or 150,000. Outdated population data</a:t>
            </a:r>
            <a:br/>
            <a:r>
              <a:t>leads to vaccine wastage or shortage.</a:t>
            </a:r>
            <a:br/>
            <a:br/>
            <a:r>
              <a:t>We need satellite-based population estimation</a:t>
            </a:r>
            <a:br/>
            <a:r>
              <a:t>using WorldPop + Google Open Buildings.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029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5029200" cy="3200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91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PROBLEM 2: Beneficiary Deduplication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574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The same child gets registered multiple times</a:t>
            </a:r>
            <a:br/>
            <a:r>
              <a:t>by different field workers, or re-registered in</a:t>
            </a:r>
            <a:br/>
            <a:r>
              <a:t>the next campaign round. Names are spelled</a:t>
            </a:r>
            <a:br/>
            <a:r>
              <a:t>differently each time (Mahamat / Muhammad).</a:t>
            </a:r>
            <a:br/>
            <a:br/>
            <a:r>
              <a:t>We need fuzzy name matching that works</a:t>
            </a:r>
            <a:br/>
            <a:r>
              <a:t>OFFLINE on mobile devices.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4389120"/>
            <a:ext cx="7589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4389120"/>
            <a:ext cx="7589520" cy="320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4434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4800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Every duplicate means a child either gets vaccinated twice (wasted dose) or</a:t>
            </a:r>
            <a:br/>
            <a:r>
              <a:t>a different child misses vaccination entirely. Every wrong population count</a:t>
            </a:r>
            <a:br/>
            <a:r>
              <a:t>means the campaign either runs out of vaccines or wastes resources.</a:t>
            </a:r>
            <a:br/>
            <a:r>
              <a:t>This directly impacts child health outcomes in Africa.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Understanding the HCM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How real-world concepts map to database tables</a:t>
            </a:r>
          </a:p>
        </p:txBody>
      </p:sp>
      <p:pic>
        <p:nvPicPr>
          <p:cNvPr id="5" name="Picture 4" descr="egov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173523" cy="822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eGov Foundation | DIGIT 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26B1D"/>
                </a:solidFill>
                <a:latin typeface="Calibri"/>
              </a:defRPr>
            </a:pPr>
            <a:r>
              <a:t>REAL WORLD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11680"/>
            <a:ext cx="4754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011680"/>
            <a:ext cx="4754880" cy="320040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574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🏠  A House (Physical Structure)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231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 physical dwelling where a family lives.</a:t>
            </a:r>
            <a:br/>
            <a:r>
              <a:t>Has a GPS location, a door number, and belongs to a village/settlement.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00400"/>
            <a:ext cx="4754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200400"/>
            <a:ext cx="4754880" cy="3200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2461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🧑  A Person (Human Being)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118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 real person with a name, date of birth, gender.</a:t>
            </a:r>
            <a:br/>
            <a:r>
              <a:t>Has a father/guardian. May have a phone number.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389120"/>
            <a:ext cx="4754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389120"/>
            <a:ext cx="4754880" cy="320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4348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👪  Person Lives in House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800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 person belongs to a household. One person is the</a:t>
            </a:r>
            <a:br/>
            <a:r>
              <a:t>head of the household. Others are family members.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57784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5577840"/>
            <a:ext cx="4754880" cy="320040"/>
          </a:xfrm>
          <a:prstGeom prst="rect">
            <a:avLst/>
          </a:prstGeom>
          <a:solidFill>
            <a:srgbClr val="8B0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623559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💉  Person Receives Vaccine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9893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During a campaign, each person is registered</a:t>
            </a:r>
            <a:br/>
            <a:r>
              <a:t>as a beneficiary and receives the health intervention.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5A4"/>
                </a:solidFill>
                <a:latin typeface="Calibri"/>
              </a:defRPr>
            </a:pPr>
            <a:r>
              <a:t>DATABASE TABLE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2011680"/>
            <a:ext cx="4754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2011680"/>
            <a:ext cx="4754880" cy="320040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20574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Household 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4231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client_reference_id (UUID), member_count,</a:t>
            </a:r>
            <a:br/>
            <a:r>
              <a:t>latitude, longitude, tenant_id, boundary_code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3200400"/>
            <a:ext cx="4754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0" y="3200400"/>
            <a:ext cx="4754880" cy="3200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2461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Individual + Individual_Name 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6118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client_reference_id, name.givenName, name.familyName,</a:t>
            </a:r>
            <a:br/>
            <a:r>
              <a:t>dateOfBirth, gender, fatherName, mobileNumber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4389120"/>
            <a:ext cx="4754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4389120"/>
            <a:ext cx="4754880" cy="320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4348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Household_Member Table (Link Table)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800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household_client_reference_id → Household</a:t>
            </a:r>
            <a:br/>
            <a:r>
              <a:t>individual_client_reference_id → Individual</a:t>
            </a:r>
            <a:br/>
            <a:r>
              <a:t>is_head_of_household: true/false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557784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0" y="5577840"/>
            <a:ext cx="4754880" cy="320040"/>
          </a:xfrm>
          <a:prstGeom prst="rect">
            <a:avLst/>
          </a:prstGeom>
          <a:solidFill>
            <a:srgbClr val="8B0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5623559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Project_Beneficiary 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59893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project_id (campaign), beneficiary_client_ref_id</a:t>
            </a:r>
            <a:br/>
            <a:r>
              <a:t>→ links Individual to the Campaign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Registration Flow: How Data Connects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The journey of one household visit by a field worker</a:t>
            </a:r>
          </a:p>
        </p:txBody>
      </p:sp>
      <p:pic>
        <p:nvPicPr>
          <p:cNvPr id="5" name="Picture 4" descr="egov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173523" cy="822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eGov Foundation | DIGIT HCM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2860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286000" cy="320040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028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Field worker arrives</a:t>
            </a:r>
            <a:br/>
            <a:r>
              <a:t>at a house.</a:t>
            </a:r>
            <a:br/>
            <a:r>
              <a:t>Captures GPS location.</a:t>
            </a:r>
            <a:br/>
            <a:br/>
            <a:r>
              <a:t>→ Creates HOUSEHOLD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1828800"/>
            <a:ext cx="22860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17520" y="1828800"/>
            <a:ext cx="2286000" cy="3200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79" y="18745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79" y="224028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Registers each person</a:t>
            </a:r>
            <a:br/>
            <a:r>
              <a:t>living in the house.</a:t>
            </a:r>
            <a:br/>
            <a:r>
              <a:t>Name, DOB, Gender.</a:t>
            </a:r>
            <a:br/>
            <a:br/>
            <a:r>
              <a:t>→ Creates INDIVIDUAL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1828800"/>
            <a:ext cx="22860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828800"/>
            <a:ext cx="2286000" cy="320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18745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224028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Links each person</a:t>
            </a:r>
            <a:br/>
            <a:r>
              <a:t>to the household.</a:t>
            </a:r>
            <a:br/>
            <a:r>
              <a:t>Marks head of family.</a:t>
            </a:r>
            <a:br/>
            <a:br/>
            <a:r>
              <a:t>→ Creates HH_MEMBER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828800"/>
            <a:ext cx="22860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828800"/>
            <a:ext cx="2286000" cy="320040"/>
          </a:xfrm>
          <a:prstGeom prst="rect">
            <a:avLst/>
          </a:prstGeom>
          <a:solidFill>
            <a:srgbClr val="8B0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8745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24028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Registers person as</a:t>
            </a:r>
            <a:br/>
            <a:r>
              <a:t>campaign beneficiary.</a:t>
            </a:r>
            <a:br/>
            <a:r>
              <a:t>Links to project_id.</a:t>
            </a:r>
            <a:br/>
            <a:br/>
            <a:r>
              <a:t>→ Creates BENEFICIARY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788920" y="3017520"/>
            <a:ext cx="27432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5349240" y="3017520"/>
            <a:ext cx="27432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7909560" y="3017520"/>
            <a:ext cx="27432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Example: Field worker visits the Mahamat household in WALIA EST settlement.</a:t>
            </a:r>
            <a:br/>
            <a:r>
              <a:t>Registers father Mahamat Deby (head), and children Ali Deby (age 3) and Fatima Deby (age 1).</a:t>
            </a:r>
            <a:br/>
            <a:r>
              <a:t>Each person gets a unique UUID, linked to household via HouseholdMember,</a:t>
            </a:r>
            <a:br/>
            <a:r>
              <a:t>and linked to POLIO_CHAD_2024 campaign via ProjectBeneficiary.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Deliverables</a:t>
            </a:r>
          </a:p>
        </p:txBody>
      </p:sp>
      <p:pic>
        <p:nvPicPr>
          <p:cNvPr id="4" name="Picture 3" descr="egov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173523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eGov Foundation | DIGIT HCM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029200" cy="320040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DELIVERABLE 1: Population Denominator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Goal: Estimate true population at settlement level</a:t>
            </a:r>
            <a:br/>
            <a:r>
              <a:t>using satellite data, not just census numbers.</a:t>
            </a:r>
            <a:br/>
            <a:br/>
            <a:r>
              <a:t>Components:</a:t>
            </a:r>
            <a:br/>
            <a:r>
              <a:t>• WorldPop raster data integration (population grids)</a:t>
            </a:r>
            <a:br/>
            <a:r>
              <a:t>• Google Open Buildings footprint analysis</a:t>
            </a:r>
            <a:br/>
            <a:r>
              <a:t>• PostGIS-based geospatial processing</a:t>
            </a:r>
            <a:br/>
            <a:r>
              <a:t>• Settlement-level aggregation pipeline</a:t>
            </a:r>
            <a:br/>
            <a:r>
              <a:t>• Coverage gap detection (registered vs estimated)</a:t>
            </a:r>
            <a:br/>
            <a:r>
              <a:t>• Dashboard for campaign managers</a:t>
            </a:r>
            <a:br/>
            <a:br/>
            <a:r>
              <a:t>Output: "Village X has ~2,400 people but only</a:t>
            </a:r>
            <a:br/>
            <a:r>
              <a:t>1,800 registered → 600 people potentially missed"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5029200" cy="3200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91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DELIVERABLE 2: Beneficiary Deduplication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574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Goal: Detect duplicate beneficiary registrations</a:t>
            </a:r>
            <a:br/>
            <a:r>
              <a:t>using fuzzy name matching that works offline.</a:t>
            </a:r>
            <a:br/>
            <a:br/>
            <a:r>
              <a:t>Components:</a:t>
            </a:r>
            <a:br/>
            <a:r>
              <a:t>• Phonetic algorithms (Soundex, Double Metaphone)</a:t>
            </a:r>
            <a:br/>
            <a:r>
              <a:t>• String similarity (Jaro-Winkler, Levenshtein)</a:t>
            </a:r>
            <a:br/>
            <a:r>
              <a:t>• Multi-attribute weighted scoring</a:t>
            </a:r>
            <a:br/>
            <a:r>
              <a:t>• GPS proximity scoring (Haversine distance)</a:t>
            </a:r>
            <a:br/>
            <a:r>
              <a:t>• Blocking strategy for search space reduction</a:t>
            </a:r>
            <a:br/>
            <a:r>
              <a:t>• Offline-capable Flutter package</a:t>
            </a:r>
            <a:br/>
            <a:br/>
            <a:r>
              <a:t>Output: "Mahamat Deby and Muhammad Debi are</a:t>
            </a:r>
            <a:br/>
            <a:r>
              <a:t>likely the same person (confidence: 92%)"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Technical Architecture Overview</a:t>
            </a:r>
          </a:p>
        </p:txBody>
      </p:sp>
      <p:pic>
        <p:nvPicPr>
          <p:cNvPr id="4" name="Picture 3" descr="egov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173523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eGov Foundation | DIGIT HCM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474720" cy="3200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MOBILE LAYER (Flutter)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32004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Offline-first mobile app</a:t>
            </a:r>
            <a:br/>
            <a:r>
              <a:t>• Drift (SQLite) local database</a:t>
            </a:r>
            <a:br/>
            <a:r>
              <a:t>• BLoC state management</a:t>
            </a:r>
            <a:br/>
            <a:r>
              <a:t>• Dedup runs ON-DEVICE</a:t>
            </a:r>
            <a:br/>
            <a:r>
              <a:t>• Phonetic index built at sync</a:t>
            </a:r>
            <a:br/>
            <a:r>
              <a:t>• Candidates scored locally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474720" cy="320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API LAYER (Java Spring Boot)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57400"/>
            <a:ext cx="32004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DIGIT HCM microservices</a:t>
            </a:r>
            <a:br/>
            <a:r>
              <a:t>• Beneficiary registration APIs</a:t>
            </a:r>
            <a:br/>
            <a:r>
              <a:t>• PDI read APIs (from PostGIS)</a:t>
            </a:r>
            <a:br/>
            <a:r>
              <a:t>• Kafka event streaming</a:t>
            </a:r>
            <a:br/>
            <a:r>
              <a:t>• Kubernetes deployment</a:t>
            </a:r>
            <a:br/>
            <a:r>
              <a:t>• PostgreSQL 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474720" cy="320040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DATA/GIS LAYER (Python Batch)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057400"/>
            <a:ext cx="32004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WorldPop raster processing</a:t>
            </a:r>
            <a:br/>
            <a:r>
              <a:t>• Google Open Buildings ETL</a:t>
            </a:r>
            <a:br/>
            <a:r>
              <a:t>• PostGIS spatial queries</a:t>
            </a:r>
            <a:br/>
            <a:r>
              <a:t>• Population estimation pipeline</a:t>
            </a:r>
            <a:br/>
            <a:r>
              <a:t>• Coverage gap computation</a:t>
            </a:r>
            <a:br/>
            <a:r>
              <a:t>• Pre-computed results → PostGIS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5A4"/>
                </a:solidFill>
                <a:latin typeface="Calibri"/>
              </a:defRPr>
            </a:pPr>
            <a:r>
              <a:t>Data Flow:  Mobile App  ↔  Sync  ↔  Java APIs  ↔  PostgreSQL/PostGIS  ←  Python Batch Jobs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Key Design Decision: Python batch jobs process satellite/geospatial data and write results</a:t>
            </a:r>
            <a:br/>
            <a:r>
              <a:t>to PostGIS. Java Spring Boot APIs read from PostGIS and serve to the mobile app.</a:t>
            </a:r>
            <a:br/>
            <a:r>
              <a:t>Deduplication runs entirely on-device (offline) using a pre-built phonetic index synced from the server.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Technical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What you need to know before starting</a:t>
            </a:r>
          </a:p>
        </p:txBody>
      </p:sp>
      <p:pic>
        <p:nvPicPr>
          <p:cNvPr id="5" name="Picture 4" descr="egov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173523" cy="822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eGov Foundation | DIGIT HCM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3474720" cy="3200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MUST HAVE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Java (Spring Boot basics)</a:t>
            </a:r>
            <a:br/>
            <a:r>
              <a:t>   - REST APIs, JPA/Hibernate</a:t>
            </a:r>
            <a:br/>
            <a:r>
              <a:t>   - PostgreSQL queries</a:t>
            </a:r>
            <a:br/>
            <a:br/>
            <a:r>
              <a:t>• Flutter / Dart</a:t>
            </a:r>
            <a:br/>
            <a:r>
              <a:t>   - BLoC pattern</a:t>
            </a:r>
            <a:br/>
            <a:r>
              <a:t>   - SQLite / Drift ORM</a:t>
            </a:r>
            <a:br/>
            <a:r>
              <a:t>   - Offline-first concepts</a:t>
            </a:r>
            <a:br/>
            <a:br/>
            <a:r>
              <a:t>• SQL</a:t>
            </a:r>
            <a:br/>
            <a:r>
              <a:t>   - Joins, indexes, UUIDs</a:t>
            </a:r>
            <a:br/>
            <a:r>
              <a:t>   - Basic schema design</a:t>
            </a:r>
            <a:br/>
            <a:br/>
            <a:r>
              <a:t>• Git &amp; GitHub 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3474720" cy="320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GOOD TO HAVE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5740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Python</a:t>
            </a:r>
            <a:br/>
            <a:r>
              <a:t>   - Pandas, NumPy</a:t>
            </a:r>
            <a:br/>
            <a:r>
              <a:t>   - Raster data (rasterio)</a:t>
            </a:r>
            <a:br/>
            <a:br/>
            <a:r>
              <a:t>• GIS / Geospatial</a:t>
            </a:r>
            <a:br/>
            <a:r>
              <a:t>   - PostGIS basics</a:t>
            </a:r>
            <a:br/>
            <a:r>
              <a:t>   - Coordinate systems</a:t>
            </a:r>
            <a:br/>
            <a:r>
              <a:t>   - GeoJSON format</a:t>
            </a:r>
            <a:br/>
            <a:br/>
            <a:r>
              <a:t>• String Matching Algorithms</a:t>
            </a:r>
            <a:br/>
            <a:r>
              <a:t>   - Jaro-Winkler, Levenshtein</a:t>
            </a:r>
            <a:br/>
            <a:r>
              <a:t>   - Soundex, Metaphone</a:t>
            </a:r>
            <a:br/>
            <a:br/>
            <a:r>
              <a:t>• Docker &amp; Kubernetes basics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3474720" cy="320040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WILL LEARN ON THE JOB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05740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DIGIT HCM Platform</a:t>
            </a:r>
            <a:br/>
            <a:r>
              <a:t>   - Architecture &amp; APIs</a:t>
            </a:r>
            <a:br/>
            <a:r>
              <a:t>   - Transformer config pattern</a:t>
            </a:r>
            <a:br/>
            <a:br/>
            <a:r>
              <a:t>• WorldPop / Open Buildings</a:t>
            </a:r>
            <a:br/>
            <a:r>
              <a:t>   - Satellite population data</a:t>
            </a:r>
            <a:br/>
            <a:r>
              <a:t>   - Building footprint analysis</a:t>
            </a:r>
            <a:br/>
            <a:br/>
            <a:r>
              <a:t>• Phonetic Blocking Strategy</a:t>
            </a:r>
            <a:br/>
            <a:r>
              <a:t>   - Search space reduction</a:t>
            </a:r>
            <a:br/>
            <a:r>
              <a:t>   - Multi-attribute scoring</a:t>
            </a:r>
            <a:br/>
            <a:br/>
            <a:r>
              <a:t>• Offline sync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Synthetic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Mimics production campaign data from Chad</a:t>
            </a:r>
          </a:p>
        </p:txBody>
      </p:sp>
      <p:pic>
        <p:nvPicPr>
          <p:cNvPr id="5" name="Picture 4" descr="egov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173523" cy="822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eGov Foundation | DIGIT HCM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53035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5303520" cy="3200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DATASET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55,000 Individual records</a:t>
            </a:r>
            <a:br/>
            <a:r>
              <a:t>• 11,961 Households</a:t>
            </a:r>
            <a:br/>
            <a:r>
              <a:t>• 55,000 Household-Member links</a:t>
            </a:r>
            <a:br/>
            <a:r>
              <a:t>• 55,000 Project Beneficiary records</a:t>
            </a:r>
            <a:br/>
            <a:r>
              <a:t>• 55,000 Individual Names (givenName + familyName)</a:t>
            </a:r>
            <a:br/>
            <a:r>
              <a:t>• 55,000 Individual Addresses (with GPS)</a:t>
            </a:r>
            <a:br/>
            <a:r>
              <a:t>• 55,000 Individual Identifiers</a:t>
            </a:r>
            <a:br/>
            <a:br/>
            <a:r>
              <a:t>Format: PostgreSQL .sql files (9 files, ~76 MB total)</a:t>
            </a:r>
            <a:br/>
            <a:r>
              <a:t>Also available as flat CSV for quick 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3035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5303520" cy="320040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NAME CHARACTERISTICS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5740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Arabic-influenced names:</a:t>
            </a:r>
            <a:br/>
            <a:r>
              <a:t>   Mahamat, Ibrahim, Fatima, Amina, Khadija</a:t>
            </a:r>
            <a:br/>
            <a:br/>
            <a:r>
              <a:t>• French-influenced names:</a:t>
            </a:r>
            <a:br/>
            <a:r>
              <a:t>   Jean-Pierre, Francois, Christine, Therese</a:t>
            </a:r>
            <a:br/>
            <a:br/>
            <a:r>
              <a:t>• Local Sara/Kanuri names:</a:t>
            </a:r>
            <a:br/>
            <a:r>
              <a:t>   Nadjitangar, Djimadoum, Ngarmbatina</a:t>
            </a:r>
            <a:br/>
            <a:br/>
            <a:r>
              <a:t>• Edge cases: short names (Al, Ba),</a:t>
            </a:r>
            <a:br/>
            <a:r>
              <a:t>   hyphens, apostrophes (N'Golo, M'Baye),</a:t>
            </a:r>
            <a:br/>
            <a:r>
              <a:t>   gender-ambiguous names (Adama, Claude)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54880"/>
            <a:ext cx="110642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11064240" cy="320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800600"/>
            <a:ext cx="10789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CAMPAIGN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66360"/>
            <a:ext cx="107899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Region: N'Djamena, Chad  |  Campaign: POLIO_CHAD_2024  |  Boundaries: 45 real settlement codes from POLIO_CHAD.xlsx</a:t>
            </a:r>
            <a:br/>
            <a:r>
              <a:t>GPS: Real coordinates within N'Djamena city area (12.13°N, 15.05°E)  |  Data model matches transformer_config.dart from the HCM Flutter 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Repository &amp; Collaboration</a:t>
            </a:r>
          </a:p>
        </p:txBody>
      </p:sp>
      <p:pic>
        <p:nvPicPr>
          <p:cNvPr id="4" name="Picture 3" descr="egov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173523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eGov Foundation | DIGIT HCM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0698480" cy="3200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424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PROJECT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1042415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github.com/egovernments/DIGIT-Frontend  |  Branch: PES-U/project-setup</a:t>
            </a:r>
            <a:br/>
            <a:br/>
            <a:r>
              <a:t>• All project artifacts, datasets, documentation, and code in one place</a:t>
            </a:r>
            <a:br/>
            <a:r>
              <a:t>• Three top-level folders: react/ (DIGIT web frontend), flutter/ (HCM mobile app), PES-U/ (project artifacts)</a:t>
            </a:r>
            <a:br/>
            <a:r>
              <a:t>• Branch strategy: PES-U/project-setup (base) + feature branches per task segment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029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5029200" cy="320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REPOSITORY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475488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react/ - DIGIT Frontend (React web app)</a:t>
            </a:r>
            <a:br/>
            <a:r>
              <a:t>• flutter/ - Health Campaign Field Worker App</a:t>
            </a:r>
            <a:br/>
            <a:r>
              <a:t>• PES-U/docs/ - Architecture, task plan, requirements</a:t>
            </a:r>
            <a:br/>
            <a:r>
              <a:t>• PES-U/synthetic_data/ - 55K-record dataset</a:t>
            </a:r>
            <a:br/>
            <a:br/>
            <a:r>
              <a:t>Links:</a:t>
            </a:r>
            <a:br/>
            <a:r>
              <a:t>• Architecture: PES-U/docs/ARCHITECTURE.md</a:t>
            </a:r>
            <a:br/>
            <a:r>
              <a:t>• Task Plan: PES-U/docs/TASK_PLAN.md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023360"/>
            <a:ext cx="5029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4023360"/>
            <a:ext cx="5029200" cy="320040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069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COMMUNICATION &amp;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434840"/>
            <a:ext cx="475488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Regular sync meetings</a:t>
            </a:r>
            <a:br/>
            <a:r>
              <a:t>• GitHub Issues for task tracking</a:t>
            </a:r>
            <a:br/>
            <a:r>
              <a:t>• Pull Request based code reviews</a:t>
            </a:r>
            <a:br/>
            <a:r>
              <a:t>• Architecture decision records in PES-U/docs/</a:t>
            </a:r>
            <a:br/>
            <a:br/>
            <a:r>
              <a:t>Related Repos:</a:t>
            </a:r>
            <a:br/>
            <a:r>
              <a:t>• github.com/egovernments/DIGIT-Frontend</a:t>
            </a:r>
            <a:br/>
            <a:r>
              <a:t>• github.com/egovernments/health-campaign-field-worker-app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High-Level Timeline</a:t>
            </a:r>
          </a:p>
        </p:txBody>
      </p:sp>
      <p:pic>
        <p:nvPicPr>
          <p:cNvPr id="4" name="Picture 3" descr="egov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173523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eGov Foundation | DIGIT HCM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651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2651760" cy="3200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1: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Weeks 1-2</a:t>
            </a:r>
            <a:br/>
            <a:br/>
            <a:r>
              <a:t>Environment setup, HCM study,</a:t>
            </a:r>
            <a:br/>
            <a:r>
              <a:t>data model understanding,</a:t>
            </a:r>
            <a:br/>
            <a:r>
              <a:t>database setup with synthetic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2651760" cy="320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691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2: Core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05740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Weeks 3-4</a:t>
            </a:r>
            <a:br/>
            <a:br/>
            <a:r>
              <a:t>PDI pipeline (WorldPop + PostGIS),</a:t>
            </a:r>
            <a:br/>
            <a:r>
              <a:t>Dedup algorithm implementation,</a:t>
            </a:r>
            <a:br/>
            <a:r>
              <a:t>phonetic index builder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651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2651760" cy="320040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91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3: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05740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Weeks 5-6</a:t>
            </a:r>
            <a:br/>
            <a:br/>
            <a:r>
              <a:t>Flutter package development,</a:t>
            </a:r>
            <a:br/>
            <a:r>
              <a:t>offline dedup on mobile,</a:t>
            </a:r>
            <a:br/>
            <a:r>
              <a:t>PDI dashboard + Java APIs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645920"/>
            <a:ext cx="2651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645920"/>
            <a:ext cx="2651760" cy="320040"/>
          </a:xfrm>
          <a:prstGeom prst="rect">
            <a:avLst/>
          </a:prstGeom>
          <a:solidFill>
            <a:srgbClr val="8B0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691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4: Testing &amp; 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05740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Weeks 7-8</a:t>
            </a:r>
            <a:br/>
            <a:br/>
            <a:r>
              <a:t>End-to-end testing,</a:t>
            </a:r>
            <a:br/>
            <a:r>
              <a:t>performance benchmarks,</a:t>
            </a:r>
            <a:br/>
            <a:r>
              <a:t>documentation &amp;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Tasks are designed as independent segments that can be worked on in parallel.</a:t>
            </a:r>
            <a:br/>
            <a:r>
              <a:t>Detailed task breakdown with acceptance criteria is available in TASK_PLAN.md.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Immediate Next Steps</a:t>
            </a:r>
          </a:p>
        </p:txBody>
      </p:sp>
      <p:pic>
        <p:nvPicPr>
          <p:cNvPr id="4" name="Picture 3" descr="egov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173523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eGov Foundation | DIGIT HCM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144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✔  Synthetic dataset (55K records) — Ready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✔  Architecture document (ARCHITECTURE.md) — Ready, 17 sections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✔  Task breakdown (TASK_PLAN.md) — Ready, 11 independent segments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✔  Repository setup — Ready: github.com/egovernments/DIGIT-Frontend (branch: PES-U/project-setup)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➡  Team to confirm preferred dataset format (.sql / .csv / other)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➡  Schedule kickoff meeting to walk through architecture &amp; tasks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➡  Team to set up local development environment (Flutter, Java, PostgreSQL)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gov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2415026" cy="914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14800" y="2743200"/>
            <a:ext cx="3931920" cy="45720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CC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788AA"/>
                </a:solidFill>
                <a:latin typeface="Calibri"/>
              </a:defRPr>
            </a:pPr>
            <a:r>
              <a:t>eGov Foundation  |  DIGIT Health Campaign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BB"/>
                </a:solidFill>
                <a:latin typeface="Calibri"/>
              </a:defRPr>
            </a:pPr>
            <a:r>
              <a:t>Repo: github.com/egovernments/DIGIT-Frontend  |  Branch: PES-U/project-setup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7799"/>
                </a:solidFill>
                <a:latin typeface="Calibri"/>
              </a:defRPr>
            </a:pPr>
            <a:r>
              <a:t>egov.org.in  |  docs.digit.org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